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6a2116cf44b51" /><Relationship Type="http://schemas.openxmlformats.org/officeDocument/2006/relationships/extended-properties" Target="/docProps/app.xml" Id="R61bab52e3d574efb" /><Relationship Type="http://schemas.openxmlformats.org/officeDocument/2006/relationships/officeDocument" Target="/ppt/presentation.xml" Id="Rf4c881691de24d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4a398be0f477e"/>
  </p:sldMasterIdLst>
  <p:notesMasterIdLst>
    <p:notesMasterId xmlns:r="http://schemas.openxmlformats.org/officeDocument/2006/relationships" r:id="Ra39149e46b1144a7"/>
  </p:notesMasterIdLst>
  <p:sldIdLst>
    <p:sldId xmlns:r="http://schemas.openxmlformats.org/officeDocument/2006/relationships" id="256" r:id="Rc75c7e78117f4d87"/>
    <p:sldId xmlns:r="http://schemas.openxmlformats.org/officeDocument/2006/relationships" id="257" r:id="R229e1d3cf2874740"/>
    <p:sldId xmlns:r="http://schemas.openxmlformats.org/officeDocument/2006/relationships" id="258" r:id="R3fc1e05cb46e4340"/>
    <p:sldId xmlns:r="http://schemas.openxmlformats.org/officeDocument/2006/relationships" id="259" r:id="Rc3a9bf1af3874a5d"/>
    <p:sldId xmlns:r="http://schemas.openxmlformats.org/officeDocument/2006/relationships" id="260" r:id="Ra051c6f5b5804bfd"/>
    <p:sldId xmlns:r="http://schemas.openxmlformats.org/officeDocument/2006/relationships" id="261" r:id="R7691fd8dd73f453f"/>
    <p:sldId xmlns:r="http://schemas.openxmlformats.org/officeDocument/2006/relationships" id="262" r:id="R6cb1aca13cae4d24"/>
    <p:sldId xmlns:r="http://schemas.openxmlformats.org/officeDocument/2006/relationships" id="263" r:id="Ra4cbaf5fbb8b456f"/>
    <p:sldId xmlns:r="http://schemas.openxmlformats.org/officeDocument/2006/relationships" id="264" r:id="R3e4d2c8071984b4a"/>
    <p:sldId xmlns:r="http://schemas.openxmlformats.org/officeDocument/2006/relationships" id="265" r:id="Rb4d361502c6d4c8c"/>
    <p:sldId xmlns:r="http://schemas.openxmlformats.org/officeDocument/2006/relationships" id="266" r:id="R68d8d80e9e0f42ea"/>
    <p:sldId xmlns:r="http://schemas.openxmlformats.org/officeDocument/2006/relationships" id="267" r:id="R5f01f4bd333b48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4a398be0f477e" /><Relationship Type="http://schemas.openxmlformats.org/officeDocument/2006/relationships/theme" Target="/ppt/theme/theme1.xml" Id="Rde2a51ed719e47a5" /><Relationship Type="http://schemas.openxmlformats.org/officeDocument/2006/relationships/notesMaster" Target="/ppt/notesMasters/notesMaster1.xml" Id="Ra39149e46b1144a7" /><Relationship Type="http://schemas.openxmlformats.org/officeDocument/2006/relationships/presProps" Target="/ppt/presProps.xml" Id="R00a33a6b6d9e4d0b" /><Relationship Type="http://schemas.openxmlformats.org/officeDocument/2006/relationships/viewProps" Target="/ppt/viewProps.xml" Id="R4187f0939561416e" /><Relationship Type="http://schemas.openxmlformats.org/officeDocument/2006/relationships/tableStyles" Target="/ppt/tableStyles.xml" Id="R96e78ff8297448b7" /><Relationship Type="http://schemas.openxmlformats.org/officeDocument/2006/relationships/slide" Target="/ppt/slides/slide1.xml" Id="Rc75c7e78117f4d87" /><Relationship Type="http://schemas.openxmlformats.org/officeDocument/2006/relationships/slide" Target="/ppt/slides/slide2.xml" Id="R229e1d3cf2874740" /><Relationship Type="http://schemas.openxmlformats.org/officeDocument/2006/relationships/slide" Target="/ppt/slides/slide3.xml" Id="R3fc1e05cb46e4340" /><Relationship Type="http://schemas.openxmlformats.org/officeDocument/2006/relationships/slide" Target="/ppt/slides/slide4.xml" Id="Rc3a9bf1af3874a5d" /><Relationship Type="http://schemas.openxmlformats.org/officeDocument/2006/relationships/slide" Target="/ppt/slides/slide5.xml" Id="Ra051c6f5b5804bfd" /><Relationship Type="http://schemas.openxmlformats.org/officeDocument/2006/relationships/slide" Target="/ppt/slides/slide6.xml" Id="R7691fd8dd73f453f" /><Relationship Type="http://schemas.openxmlformats.org/officeDocument/2006/relationships/slide" Target="/ppt/slides/slide7.xml" Id="R6cb1aca13cae4d24" /><Relationship Type="http://schemas.openxmlformats.org/officeDocument/2006/relationships/slide" Target="/ppt/slides/slide8.xml" Id="Ra4cbaf5fbb8b456f" /><Relationship Type="http://schemas.openxmlformats.org/officeDocument/2006/relationships/slide" Target="/ppt/slides/slide9.xml" Id="R3e4d2c8071984b4a" /><Relationship Type="http://schemas.openxmlformats.org/officeDocument/2006/relationships/slide" Target="/ppt/slides/slide10.xml" Id="Rb4d361502c6d4c8c" /><Relationship Type="http://schemas.openxmlformats.org/officeDocument/2006/relationships/slide" Target="/ppt/slides/slide11.xml" Id="R68d8d80e9e0f42ea" /><Relationship Type="http://schemas.openxmlformats.org/officeDocument/2006/relationships/slide" Target="/ppt/slides/slide12.xml" Id="R5f01f4bd333b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5671d50525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7b2c80797c418e" /><Relationship Type="http://schemas.openxmlformats.org/officeDocument/2006/relationships/notesMaster" Target="/ppt/notesMasters/notesMaster1.xml" Id="R48652d0bfe5f48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75dfc4f664173" /><Relationship Type="http://schemas.openxmlformats.org/officeDocument/2006/relationships/notesMaster" Target="/ppt/notesMasters/notesMaster1.xml" Id="Rb32437c39b32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aa697f4b49483c" /><Relationship Type="http://schemas.openxmlformats.org/officeDocument/2006/relationships/notesMaster" Target="/ppt/notesMasters/notesMaster1.xml" Id="R501521a50b774c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ccbc5eea0e4e7b" /><Relationship Type="http://schemas.openxmlformats.org/officeDocument/2006/relationships/notesMaster" Target="/ppt/notesMasters/notesMaster1.xml" Id="Rece77787c340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3bc4c2ebc48d7" /><Relationship Type="http://schemas.openxmlformats.org/officeDocument/2006/relationships/notesMaster" Target="/ppt/notesMasters/notesMaster1.xml" Id="R4779a64e6eaa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765c318fe4480" /><Relationship Type="http://schemas.openxmlformats.org/officeDocument/2006/relationships/notesMaster" Target="/ppt/notesMasters/notesMaster1.xml" Id="Rdcac7f3c4396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dc54ab5c948ac" /><Relationship Type="http://schemas.openxmlformats.org/officeDocument/2006/relationships/notesMaster" Target="/ppt/notesMasters/notesMaster1.xml" Id="R9bf34b818433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5b4c6a337b47d5" /><Relationship Type="http://schemas.openxmlformats.org/officeDocument/2006/relationships/notesMaster" Target="/ppt/notesMasters/notesMaster1.xml" Id="R59f8b5a075cf4f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667b8089e42eb" /><Relationship Type="http://schemas.openxmlformats.org/officeDocument/2006/relationships/notesMaster" Target="/ppt/notesMasters/notesMaster1.xml" Id="Radb32c07e861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96948262234bbd" /><Relationship Type="http://schemas.openxmlformats.org/officeDocument/2006/relationships/notesMaster" Target="/ppt/notesMasters/notesMaster1.xml" Id="R46181b59dec94a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28a24cb6804e2f" /><Relationship Type="http://schemas.openxmlformats.org/officeDocument/2006/relationships/notesMaster" Target="/ppt/notesMasters/notesMaster1.xml" Id="R2d5e8914e2c84e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fa64f485f24aa8" /><Relationship Type="http://schemas.openxmlformats.org/officeDocument/2006/relationships/notesMaster" Target="/ppt/notesMasters/notesMaster1.xml" Id="R4113662a298947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5a7836dc2425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a338bf91fa547cb" /><Relationship Type="http://schemas.openxmlformats.org/officeDocument/2006/relationships/slideLayout" Target="/ppt/slideLayouts/slideLayout2.xml" Id="Rc80358e0fae4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358e0fae4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46c908abf4c6a" /><Relationship Type="http://schemas.openxmlformats.org/officeDocument/2006/relationships/image" Target="/ppt/media/image.png" Id="R6fbd5eb0f767431e" /><Relationship Type="http://schemas.openxmlformats.org/officeDocument/2006/relationships/notesSlide" Target="/ppt/notesSlides/notesSlide1.xml" Id="Rcf8273e551c7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481622f72423e" /><Relationship Type="http://schemas.openxmlformats.org/officeDocument/2006/relationships/notesSlide" Target="/ppt/notesSlides/notesSlide2.xml" Id="R7bc5c4d6cf2f41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a70090e4947b1" /><Relationship Type="http://schemas.openxmlformats.org/officeDocument/2006/relationships/notesSlide" Target="/ppt/notesSlides/notesSlide3.xml" Id="Rada3e7a53f5e44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827d607e364584" /><Relationship Type="http://schemas.openxmlformats.org/officeDocument/2006/relationships/image" Target="/ppt/media/image2.png" Id="Ra089ef554ae34b0b" /><Relationship Type="http://schemas.openxmlformats.org/officeDocument/2006/relationships/notesSlide" Target="/ppt/notesSlides/notesSlide4.xml" Id="R9ada9269f4e0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163e85fa394c9c" /><Relationship Type="http://schemas.openxmlformats.org/officeDocument/2006/relationships/image" Target="/ppt/media/image3.png" Id="R1ca0340bca3649ea" /><Relationship Type="http://schemas.openxmlformats.org/officeDocument/2006/relationships/notesSlide" Target="/ppt/notesSlides/notesSlide5.xml" Id="Rd332347d39df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83be6cbac4a87" /><Relationship Type="http://schemas.openxmlformats.org/officeDocument/2006/relationships/image" Target="/ppt/media/image4.png" Id="R6008b57c67854c06" /><Relationship Type="http://schemas.openxmlformats.org/officeDocument/2006/relationships/notesSlide" Target="/ppt/notesSlides/notesSlide6.xml" Id="Rcb5a30f7d5bb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187462f86480d" /><Relationship Type="http://schemas.openxmlformats.org/officeDocument/2006/relationships/image" Target="/ppt/media/image5.png" Id="Rda2370e6c27c4375" /><Relationship Type="http://schemas.openxmlformats.org/officeDocument/2006/relationships/notesSlide" Target="/ppt/notesSlides/notesSlide7.xml" Id="Re6fe5db8a924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910f4fd0a4448" /><Relationship Type="http://schemas.openxmlformats.org/officeDocument/2006/relationships/image" Target="/ppt/media/image6.png" Id="Rc5735ad504ed4eca" /><Relationship Type="http://schemas.openxmlformats.org/officeDocument/2006/relationships/notesSlide" Target="/ppt/notesSlides/notesSlide8.xml" Id="Rcaf0aa0c84da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b42e73c59497e" /><Relationship Type="http://schemas.openxmlformats.org/officeDocument/2006/relationships/image" Target="/ppt/media/image7.png" Id="R2f37f0f6c4644807" /><Relationship Type="http://schemas.openxmlformats.org/officeDocument/2006/relationships/notesSlide" Target="/ppt/notesSlides/notesSlide9.xml" Id="R9570d2f4689140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ba7fbd637e4b66" /><Relationship Type="http://schemas.openxmlformats.org/officeDocument/2006/relationships/image" Target="/ppt/media/image8.png" Id="R3461587b8c464037" /><Relationship Type="http://schemas.openxmlformats.org/officeDocument/2006/relationships/notesSlide" Target="/ppt/notesSlides/notesSlide10.xml" Id="Rf30b35bb3cb44b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28981da1442d1" /><Relationship Type="http://schemas.openxmlformats.org/officeDocument/2006/relationships/image" Target="/ppt/media/image9.png" Id="R79494e2190804271" /><Relationship Type="http://schemas.openxmlformats.org/officeDocument/2006/relationships/notesSlide" Target="/ppt/notesSlides/notesSlide11.xml" Id="R75e9b69d8e4442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a5443f72d4256" /><Relationship Type="http://schemas.openxmlformats.org/officeDocument/2006/relationships/notesSlide" Target="/ppt/notesSlides/notesSlide12.xml" Id="R2683840f1e2140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11D065-7956-449D-AE94-9CED31C0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32A52DE-899D-4902-8D08-FB834B5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E175B01-711A-49E3-B122-176FAF2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PROJECT SNAPSHOT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7D9E8A-AC20-4591-A031-28D0A78A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Bluestock MF Capstone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BC37CDC-83CA-46AC-A340-E3F413C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A cleaned mutual-fund analytics stack covering 40 schemes, 10 public datasets, and a verified SQLite warehouse.</a:t>
            </a:r>
          </a:p>
        </p:txBody>
      </p:sp>
      <p:sp>
        <p:nvSpPr>
          <p:cNvPr id="6" name="metric-card-schemes tracked">
            <a:extLst xmlns:a="http://schemas.openxmlformats.org/drawingml/2006/main">
              <a:ext uri="{FF2B5EF4-FFF2-40B4-BE49-F238E27FC236}">
                <a16:creationId xmlns:a16="http://schemas.microsoft.com/office/drawing/2014/main" id="{6EB2A302-443A-46D1-96C2-B780A5D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CBB5"/>
            </a:solidFill>
            <a:prstDash val="solid"/>
          </a:ln>
        </p:spPr>
      </p:sp>
      <p:sp>
        <p:nvSpPr>
          <p:cNvPr id="7" name="metric-value-schemes tracked">
            <a:extLst xmlns:a="http://schemas.openxmlformats.org/drawingml/2006/main">
              <a:ext uri="{FF2B5EF4-FFF2-40B4-BE49-F238E27FC236}">
                <a16:creationId xmlns:a16="http://schemas.microsoft.com/office/drawing/2014/main" id="{ADAAC3D0-F8F1-4439-AF8E-60DB3B6C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metric-label-schemes tracked">
            <a:extLst xmlns:a="http://schemas.openxmlformats.org/drawingml/2006/main">
              <a:ext uri="{FF2B5EF4-FFF2-40B4-BE49-F238E27FC236}">
                <a16:creationId xmlns:a16="http://schemas.microsoft.com/office/drawing/2014/main" id="{E8ADB160-B251-4925-B76F-880A1CD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schemes tracked</a:t>
            </a:r>
          </a:p>
        </p:txBody>
      </p:sp>
      <p:sp>
        <p:nvSpPr>
          <p:cNvPr id="9" name="metric-note-schemes tracked">
            <a:extLst xmlns:a="http://schemas.openxmlformats.org/drawingml/2006/main">
              <a:ext uri="{FF2B5EF4-FFF2-40B4-BE49-F238E27FC236}">
                <a16:creationId xmlns:a16="http://schemas.microsoft.com/office/drawing/2014/main" id="{7064EE2C-EA2F-4B37-B4C6-847A76CF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from the fund master</a:t>
            </a:r>
          </a:p>
        </p:txBody>
      </p:sp>
      <p:sp>
        <p:nvSpPr>
          <p:cNvPr id="10" name="metric-card-source datasets">
            <a:extLst xmlns:a="http://schemas.openxmlformats.org/drawingml/2006/main">
              <a:ext uri="{FF2B5EF4-FFF2-40B4-BE49-F238E27FC236}">
                <a16:creationId xmlns:a16="http://schemas.microsoft.com/office/drawing/2014/main" id="{5DD15C8C-A221-45EA-9730-3056D5A9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CBB5"/>
            </a:solidFill>
            <a:prstDash val="solid"/>
          </a:ln>
        </p:spPr>
      </p:sp>
      <p:sp>
        <p:nvSpPr>
          <p:cNvPr id="11" name="metric-value-source datasets">
            <a:extLst xmlns:a="http://schemas.openxmlformats.org/drawingml/2006/main">
              <a:ext uri="{FF2B5EF4-FFF2-40B4-BE49-F238E27FC236}">
                <a16:creationId xmlns:a16="http://schemas.microsoft.com/office/drawing/2014/main" id="{7F7E5A42-F1DF-4CB4-AE28-E46EB31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19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2" name="metric-label-source datasets">
            <a:extLst xmlns:a="http://schemas.openxmlformats.org/drawingml/2006/main">
              <a:ext uri="{FF2B5EF4-FFF2-40B4-BE49-F238E27FC236}">
                <a16:creationId xmlns:a16="http://schemas.microsoft.com/office/drawing/2014/main" id="{0D52DE8F-3A4D-4631-A8BA-89A3EC4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434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source datasets</a:t>
            </a:r>
          </a:p>
        </p:txBody>
      </p:sp>
      <p:sp>
        <p:nvSpPr>
          <p:cNvPr id="13" name="metric-note-source datasets">
            <a:extLst xmlns:a="http://schemas.openxmlformats.org/drawingml/2006/main">
              <a:ext uri="{FF2B5EF4-FFF2-40B4-BE49-F238E27FC236}">
                <a16:creationId xmlns:a16="http://schemas.microsoft.com/office/drawing/2014/main" id="{9D384C56-5750-4A64-998E-22A82274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291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raw CSVs and public APIs</a:t>
            </a:r>
          </a:p>
        </p:txBody>
      </p:sp>
      <p:sp>
        <p:nvSpPr>
          <p:cNvPr id="14" name="metric-card-cleaned NAV rows">
            <a:extLst xmlns:a="http://schemas.openxmlformats.org/drawingml/2006/main">
              <a:ext uri="{FF2B5EF4-FFF2-40B4-BE49-F238E27FC236}">
                <a16:creationId xmlns:a16="http://schemas.microsoft.com/office/drawing/2014/main" id="{F0867453-F4D8-439C-B548-B679C6A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CBB5"/>
            </a:solidFill>
            <a:prstDash val="solid"/>
          </a:ln>
        </p:spPr>
      </p:sp>
      <p:sp>
        <p:nvSpPr>
          <p:cNvPr id="15" name="metric-value-cleaned NAV rows">
            <a:extLst xmlns:a="http://schemas.openxmlformats.org/drawingml/2006/main">
              <a:ext uri="{FF2B5EF4-FFF2-40B4-BE49-F238E27FC236}">
                <a16:creationId xmlns:a16="http://schemas.microsoft.com/office/drawing/2014/main" id="{26553DC1-6E02-4F14-BD38-28ECC7C5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64,320</a:t>
            </a:r>
          </a:p>
        </p:txBody>
      </p:sp>
      <p:sp>
        <p:nvSpPr>
          <p:cNvPr id="16" name="metric-label-cleaned NAV rows">
            <a:extLst xmlns:a="http://schemas.openxmlformats.org/drawingml/2006/main">
              <a:ext uri="{FF2B5EF4-FFF2-40B4-BE49-F238E27FC236}">
                <a16:creationId xmlns:a16="http://schemas.microsoft.com/office/drawing/2014/main" id="{0BAC526A-0751-4504-8691-AEF46A4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cleaned NAV rows</a:t>
            </a:r>
          </a:p>
        </p:txBody>
      </p:sp>
      <p:sp>
        <p:nvSpPr>
          <p:cNvPr id="17" name="metric-note-cleaned NAV rows">
            <a:extLst xmlns:a="http://schemas.openxmlformats.org/drawingml/2006/main">
              <a:ext uri="{FF2B5EF4-FFF2-40B4-BE49-F238E27FC236}">
                <a16:creationId xmlns:a16="http://schemas.microsoft.com/office/drawing/2014/main" id="{77B65DE9-D7BC-4FE9-9D1E-D762951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after forward-fill</a:t>
            </a:r>
          </a:p>
        </p:txBody>
      </p:sp>
      <p:sp>
        <p:nvSpPr>
          <p:cNvPr id="18" name="metric-card-transaction rows">
            <a:extLst xmlns:a="http://schemas.openxmlformats.org/drawingml/2006/main">
              <a:ext uri="{FF2B5EF4-FFF2-40B4-BE49-F238E27FC236}">
                <a16:creationId xmlns:a16="http://schemas.microsoft.com/office/drawing/2014/main" id="{925E7CDD-4B20-4347-A71A-6FB43C6D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CBB5"/>
            </a:solidFill>
            <a:prstDash val="solid"/>
          </a:ln>
        </p:spPr>
      </p:sp>
      <p:sp>
        <p:nvSpPr>
          <p:cNvPr id="19" name="metric-value-transaction rows">
            <a:extLst xmlns:a="http://schemas.openxmlformats.org/drawingml/2006/main">
              <a:ext uri="{FF2B5EF4-FFF2-40B4-BE49-F238E27FC236}">
                <a16:creationId xmlns:a16="http://schemas.microsoft.com/office/drawing/2014/main" id="{A46DF831-89D5-4174-97E2-51DA011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62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32,778</a:t>
            </a:r>
          </a:p>
        </p:txBody>
      </p:sp>
      <p:sp>
        <p:nvSpPr>
          <p:cNvPr id="20" name="metric-label-transaction rows">
            <a:extLst xmlns:a="http://schemas.openxmlformats.org/drawingml/2006/main">
              <a:ext uri="{FF2B5EF4-FFF2-40B4-BE49-F238E27FC236}">
                <a16:creationId xmlns:a16="http://schemas.microsoft.com/office/drawing/2014/main" id="{CCEBE536-34EF-42CC-9364-42F1F7B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864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transaction rows</a:t>
            </a:r>
          </a:p>
        </p:txBody>
      </p:sp>
      <p:sp>
        <p:nvSpPr>
          <p:cNvPr id="21" name="metric-note-transaction rows">
            <a:extLst xmlns:a="http://schemas.openxmlformats.org/drawingml/2006/main">
              <a:ext uri="{FF2B5EF4-FFF2-40B4-BE49-F238E27FC236}">
                <a16:creationId xmlns:a16="http://schemas.microsoft.com/office/drawing/2014/main" id="{06B4C580-DE51-46C8-B8FD-98F21BC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721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retail behavior sample</a:t>
            </a:r>
          </a:p>
        </p:txBody>
      </p:sp>
      <p:sp>
        <p:nvSpPr>
          <p:cNvPr id="22" name="image-frame-project evidence collage">
            <a:extLst xmlns:a="http://schemas.openxmlformats.org/drawingml/2006/main">
              <a:ext uri="{FF2B5EF4-FFF2-40B4-BE49-F238E27FC236}">
                <a16:creationId xmlns:a16="http://schemas.microsoft.com/office/drawing/2014/main" id="{195C2EAC-B3D6-4800-B86E-8A8A890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5800"/>
            <a:ext cx="5905500" cy="552450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d5eb0f767431e"/>
          <a:stretch xmlns:a="http://schemas.openxmlformats.org/drawingml/2006/main"/>
        </p:blipFill>
        <p:spPr>
          <a:xfrm xmlns:a="http://schemas.openxmlformats.org/drawingml/2006/main">
            <a:off x="5810250" y="18407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24" name="caption-project evidence collage">
            <a:extLst xmlns:a="http://schemas.openxmlformats.org/drawingml/2006/main">
              <a:ext uri="{FF2B5EF4-FFF2-40B4-BE49-F238E27FC236}">
                <a16:creationId xmlns:a16="http://schemas.microsoft.com/office/drawing/2014/main" id="{F5E1D6C0-3DB2-4DC7-B2D3-F340882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81700"/>
            <a:ext cx="567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project evidence collage</a:t>
            </a:r>
          </a:p>
        </p:txBody>
      </p:sp>
      <p:sp>
        <p:nvSpPr>
          <p:cNvPr id="2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2609066-73B9-4728-86C0-4BBA1C1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Sources: AMFI India, mfapi.in, NSE/BSE public data. Composite visuals assembled from project outputs.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94227D1-94FE-4F12-B90E-CF93629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29436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29D634-AD8F-4175-AFCF-F28B537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A78BCCB-B822-405C-811C-BCC75D9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8DB2731-89A7-4494-AF9B-21A0726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PROBLEM &amp; OBJECTIVE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B5F234-0727-404B-9274-C1E0326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The capstone turns fragmented public fund data into a repeatable analytics pipeline.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761AED7-B99C-4B04-9AD6-A6C19CA1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Goal: explain who invests, what drives flows, and which funds win on both return and risk.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5C1A990-AF44-43E7-A016-30CB171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bullet-panel-Problem statement">
            <a:extLst xmlns:a="http://schemas.openxmlformats.org/drawingml/2006/main">
              <a:ext uri="{FF2B5EF4-FFF2-40B4-BE49-F238E27FC236}">
                <a16:creationId xmlns:a16="http://schemas.microsoft.com/office/drawing/2014/main" id="{CF483F91-F3B2-488E-B81B-1A723A21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D52BE-863C-4419-8928-25991A25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49EB-2EF2-49D7-82EB-CFC39CD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Public mutual-fund data is spread across many files and refresh cadences.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E0BC0-CCAA-4B27-A877-2161885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Retail participation, performance, and benchmark context are rarely analyzed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4A574-4B77-4F74-BDA3-F2983DB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A practical capstone needs both an ETL layer and a decision layer.</a:t>
            </a:r>
          </a:p>
        </p:txBody>
      </p:sp>
      <p:sp>
        <p:nvSpPr>
          <p:cNvPr id="12" name="bullet-panel-Project objectives">
            <a:extLst xmlns:a="http://schemas.openxmlformats.org/drawingml/2006/main">
              <a:ext uri="{FF2B5EF4-FFF2-40B4-BE49-F238E27FC236}">
                <a16:creationId xmlns:a16="http://schemas.microsoft.com/office/drawing/2014/main" id="{1D35105B-A75C-4BFD-B369-EDA1A85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5524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ABA26-1958-47E8-811B-F823CC83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Project objectives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C5CF4-3E1A-4621-A9CE-5B355144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Build a cleaned warehouse with enforced quality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CDF7F-6AED-480E-A10D-063DF5E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Surface EDA patterns in investor mix, flows, and geography.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9F32E-8653-4318-8747-9887D6A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Rank funds using return, Sharpe, alpha, drawdown, and benchmark context.</a:t>
            </a:r>
          </a:p>
        </p:txBody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DF6B5B8-730A-4D32-AB65-52D5E5A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project analysis built from the MFA data folder.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4912C1-4D3F-4F21-89A5-05A66F2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20231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E0BFF6-FCC2-4F9A-B1B5-222A038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91E62ED-1FD1-4BB5-902A-D94C4EDC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923A3D4-EEA3-4FD1-8DA5-7EFE9D8F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03F36A-98B0-4D20-A6C1-8838182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The warehouse starts with 10 public inputs and ends with a fully joined star schema.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8CA8BB5-7BB8-4277-9526-AAC1E0B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Each source has a clear business role, from NAV history through to holdings and benchmark series.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5F855CA-2213-4BF3-9F65-571C736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160FD-0A36-43C1-A5CD-CD777958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9B715-73F5-46A5-B266-EB788C01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74097-59D1-452D-A219-B9B45DBF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01_fund_master.csv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72E98-6703-4A69-BFDF-36A17D0D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40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D50DD-0E2D-4457-A503-7B9C948A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scheme master and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6AB8E-CCC8-48C0-ABAF-F732E87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fee / plan / benchmark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87605-F36E-424A-941E-EAE4BB1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DE07A-23A7-4A40-822B-8479546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F8C27-609F-40D5-B978-AC23356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145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02_nav_history.csv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A55C8-2967-4CFB-B2DA-1F7AE3CE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64,320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BF22-2032-4E82-A68F-5A7F1D94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daily NAV 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B2725-BA37-41F8-8FAC-0B590DB8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384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forward-filled calendar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36B33-C850-47B7-9E7C-25D8420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F0847-4618-4411-A952-0308B1D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39B49-BA6D-4219-B43D-7E6D976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03_aum_by_fund_house.csv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D821A-0368-4D45-ACF5-46492461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90 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FF771-1AC1-4473-B84A-FD924B23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fund-house AUM trend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39B31-16FE-4453-AB46-3B4AFCE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scale and growth lens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979B9-26CA-44BC-90A1-F3A90F0E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700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81757-61D7-44D8-AE3C-363D0371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70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CA3B6-AFED-4DE5-B0BE-45D4477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717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04_monthly_sip_inflows.csv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0A3EF-3CE6-4585-8ABD-3F5B2F4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48 rows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E11DD-8315-4081-8899-667F3C69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SIP inflow and account trend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C3441-CC2F-4D74-B1C1-C4077CD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retail momentum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0A5E4A-B575-43D9-AE91-153672BC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6F8085-3ADF-4C92-8D5E-4276BCB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E2320-DA4E-4E4C-91EC-0086BBD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05_category_inflows.csv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41FA1-7B7A-40E4-BD34-67A5E9A6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144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124298-55EF-48D2-AEAF-F85081B9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category net inflows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4ADA7A-3D40-42A3-BF94-4C33433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allocation rotation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A0FD7D-F199-4926-8250-472ACC7A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18796-ECDE-495A-A3B6-5BA482B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C7E0B-132C-45EA-AA1E-54FA2062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290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06_industry_folio_count.csv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0E86D3-9B9B-4B85-8DEB-E55EF33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21 rows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178A27-9FE6-474A-80C0-8B22D6CA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foliowide asset mix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EA9BA2-9E9A-46D9-B3AC-8C4C92A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529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industry adoption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E29B2A-ACD5-408D-ABE9-BCEDA1D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8FF70D-ECAB-43E2-9915-57B93E0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AB26F2-E41C-42C3-8830-B73346B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07_scheme_performance.csv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063BA4-2265-4E8B-95CE-898F267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40 rows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4144AF-9BF3-4221-9275-9A5D2494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returns / risk / alpha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EBE6A5-BDA8-48E7-BB20-424EE03D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fund ranking input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C902A0-5B46-4F70-B0FC-01A39CA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8150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B2560A-837B-43FE-8F7A-CDD01119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81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5DCEA4-72BF-4B23-BB62-42D696D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862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08_investor_transactions.csv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CEF13-C096-4FC1-B1DD-14F5365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672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32,778 rows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390070-AFF7-4E8B-9723-A27DD22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387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retail transaction behavior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70A546-8A2C-4A37-9297-0501408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101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city, age, gender, KYC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1998BB-5DF4-4A32-AEFE-1A8F6A06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50F9DD-0F64-4560-B693-6A215FEB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87C3D3-09A2-4A19-A479-E2996840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09_portfolio_holdings.csv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3AEBDD-F663-4761-AAA8-319C19FE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322 rows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238633-E8F6-4DD2-9BF3-2E15449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sector allocation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DC7B9C-64E2-4FD7-BA5C-5BDE236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stock concentration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C06557-FD4D-4B1B-AE31-A5AF496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38750"/>
            <a:ext cx="485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C8B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529AED-C4AA-4DFD-B565-1209F6C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38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D0E963-AC06-4AAD-BA6E-B15DF28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4352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A3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A3A"/>
                </a:solidFill>
                <a:latin typeface="Aptos"/>
                <a:ea typeface="Aptos"/>
                <a:cs typeface="Aptos"/>
              </a:rPr>
              <a:t>10_benchmark_indices.csv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323346-086F-4C7C-A117-51248689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245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8,050 rows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629A2A-11BE-4F2B-A93D-BDD9848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959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benchmark close series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9FCEB2-65C2-4B7E-BDAD-508FA86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674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comparison context</a:t>
            </a:r>
          </a:p>
        </p:txBody>
      </p:sp>
      <p:sp>
        <p:nvSpPr>
          <p:cNvPr id="6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A4CE77F-4BD1-48E5-8607-2EC9A2C7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raw CSV inventory and the cleaned warehouse generated by the ETL script.</a:t>
            </a:r>
          </a:p>
        </p:txBody>
      </p:sp>
      <p:sp>
        <p:nvSpPr>
          <p:cNvPr id="6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551E84-A6EB-44FD-A5B9-51A6900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49402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D29F08-43B5-4851-9635-10452AF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7EFA060-6F9E-441C-85B1-A1E0762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162FFE6-E9BB-4576-B767-783DA71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DD38E6-C35A-411D-8DF8-1C55FF9A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The pipeline is linear by design: clean the inputs, load SQLite, then publish analysis-ready outputs.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4319A6D-9C86-4C1E-A526-49375AA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The same warehouse feeds the report, the deck, and the dashboard layer.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EE7BC9A-AF74-4834-AF8B-570A9CE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etl architecture">
            <a:extLst xmlns:a="http://schemas.openxmlformats.org/drawingml/2006/main">
              <a:ext uri="{FF2B5EF4-FFF2-40B4-BE49-F238E27FC236}">
                <a16:creationId xmlns:a16="http://schemas.microsoft.com/office/drawing/2014/main" id="{832D809C-DEC2-49E9-9FD0-97BDA146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9ef554ae34b0b"/>
          <a:stretch xmlns:a="http://schemas.openxmlformats.org/drawingml/2006/main"/>
        </p:blipFill>
        <p:spPr>
          <a:xfrm xmlns:a="http://schemas.openxmlformats.org/drawingml/2006/main">
            <a:off x="929217" y="1885950"/>
            <a:ext cx="6942667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etl architecture">
            <a:extLst xmlns:a="http://schemas.openxmlformats.org/drawingml/2006/main">
              <a:ext uri="{FF2B5EF4-FFF2-40B4-BE49-F238E27FC236}">
                <a16:creationId xmlns:a16="http://schemas.microsoft.com/office/drawing/2014/main" id="{352C5833-A44B-407C-9D02-4D4D6DC9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20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etl architecture</a:t>
            </a:r>
          </a:p>
        </p:txBody>
      </p:sp>
      <p:sp>
        <p:nvSpPr>
          <p:cNvPr id="10" name="bullet-panel-Quality gates">
            <a:extLst xmlns:a="http://schemas.openxmlformats.org/drawingml/2006/main">
              <a:ext uri="{FF2B5EF4-FFF2-40B4-BE49-F238E27FC236}">
                <a16:creationId xmlns:a16="http://schemas.microsoft.com/office/drawing/2014/main" id="{6F26A445-067C-4A68-B0B9-450F22F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3162300" cy="40957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8833E-ED98-487B-9740-AFFD220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Quality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4EB43-6375-4790-8906-F126A44F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All source files load and reconcile to cleaned counts.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FEF37-6044-454E-A125-319E82E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NAV, transaction, and fee rules are enforced before 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AEBCD-E387-4986-8FBB-05C0CBD0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schema.sql and queries.sql are regenerated by the pipeline.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3C9857D-5822-4331-81AD-7AABB5A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ETL design in day2_pipeline.py and the generated warehouse artifacts.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85629E-12B6-4D2F-ABFE-0EA56FF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45441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B1FBF8-AC58-474A-8A0E-C78256A2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9DDC881-204F-45CD-84DD-ECF4537C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E6158E7-47A4-4335-9BC7-556962E7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EDA HIGHLIGHTS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0DEBF7-C910-429C-B38E-C81CD0A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Retail participation is concentrated in T30 cities and the 26-35 age band.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2ED9919-3489-4EEB-8AF3-523AA202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The participation profile is broad, but the transaction mix is visibly urban and youthful.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443F270-9936-4F2F-AFFE-7FCB587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investor mix">
            <a:extLst xmlns:a="http://schemas.openxmlformats.org/drawingml/2006/main">
              <a:ext uri="{FF2B5EF4-FFF2-40B4-BE49-F238E27FC236}">
                <a16:creationId xmlns:a16="http://schemas.microsoft.com/office/drawing/2014/main" id="{30EA290B-FEF2-4BAA-BBD9-B41D02D2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0340bca3649ea"/>
          <a:stretch xmlns:a="http://schemas.openxmlformats.org/drawingml/2006/main"/>
        </p:blipFill>
        <p:spPr>
          <a:xfrm xmlns:a="http://schemas.openxmlformats.org/drawingml/2006/main">
            <a:off x="1181100" y="18859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investor mix">
            <a:extLst xmlns:a="http://schemas.openxmlformats.org/drawingml/2006/main">
              <a:ext uri="{FF2B5EF4-FFF2-40B4-BE49-F238E27FC236}">
                <a16:creationId xmlns:a16="http://schemas.microsoft.com/office/drawing/2014/main" id="{3D277AA1-3956-4A25-8F81-C31B0C1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investor mix</a:t>
            </a:r>
          </a:p>
        </p:txBody>
      </p:sp>
      <p:sp>
        <p:nvSpPr>
          <p:cNvPr id="10" name="bullet-panel-Readout">
            <a:extLst xmlns:a="http://schemas.openxmlformats.org/drawingml/2006/main">
              <a:ext uri="{FF2B5EF4-FFF2-40B4-BE49-F238E27FC236}">
                <a16:creationId xmlns:a16="http://schemas.microsoft.com/office/drawing/2014/main" id="{73CF9754-66CA-455E-8414-91D11D2D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B70A9-D40C-4269-8EDC-B823BC8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2DE2E-51BC-4AE9-8842-3C5E9263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T30 cities account for about 66 percent of transactions.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BFF7-43C8-4691-A1EC-2C549A9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26-35 cohort is the largest age band at 41 percent.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21CC4-8510-4F59-85CB-BB4756D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Male investors make up roughly two-thirds of the sample.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4ECB2CF-8546-4F5A-82A4-91F3670C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investor transaction and attribution data.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506526-206C-45AE-9BBA-FE3ED88F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8080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10D37A-0D04-49DA-B9CF-F1031A7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172927D-5224-4DED-B09C-F3B2E81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5E64279-6FFA-404D-A853-CDC4BEA0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EDA HIGHLIGHTS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BEF739-4A74-46CA-92CC-6C3740C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Flows accelerated into 2025, with Liquid and Mid Cap leading the latest category snapshot.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B644554-2E7B-49A7-8669-004EF451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SIP growth, category rotation, and geography tell the demand-side story.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5FDE437-7FD7-4C4E-88A0-F6F75B5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flows and geography">
            <a:extLst xmlns:a="http://schemas.openxmlformats.org/drawingml/2006/main">
              <a:ext uri="{FF2B5EF4-FFF2-40B4-BE49-F238E27FC236}">
                <a16:creationId xmlns:a16="http://schemas.microsoft.com/office/drawing/2014/main" id="{EAB31795-01FA-4072-9493-B96553E7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8b57c67854c06"/>
          <a:stretch xmlns:a="http://schemas.openxmlformats.org/drawingml/2006/main"/>
        </p:blipFill>
        <p:spPr>
          <a:xfrm xmlns:a="http://schemas.openxmlformats.org/drawingml/2006/main">
            <a:off x="1181100" y="18859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flows and geography">
            <a:extLst xmlns:a="http://schemas.openxmlformats.org/drawingml/2006/main">
              <a:ext uri="{FF2B5EF4-FFF2-40B4-BE49-F238E27FC236}">
                <a16:creationId xmlns:a16="http://schemas.microsoft.com/office/drawing/2014/main" id="{F2CD6397-F818-49AD-9F16-451DADA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flows and geography</a:t>
            </a:r>
          </a:p>
        </p:txBody>
      </p:sp>
      <p:sp>
        <p:nvSpPr>
          <p:cNvPr id="10" name="bullet-panel-Readout">
            <a:extLst xmlns:a="http://schemas.openxmlformats.org/drawingml/2006/main">
              <a:ext uri="{FF2B5EF4-FFF2-40B4-BE49-F238E27FC236}">
                <a16:creationId xmlns:a16="http://schemas.microsoft.com/office/drawing/2014/main" id="{2D97CC23-2FB2-4396-BB49-EA1F461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35A31-CFD2-4DD5-9BB9-2FAC2919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781BB-DB67-4E23-A530-7AEBFE9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SIP inflows rose from INR 11,438 crore to INR 31,002 crore.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10BA-0F53-4FCF-9977-4F0C7AB0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Liquid funds led the latest category snapshot at INR 38,681 crore.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1B97F-77F2-4B14-9B39-A4B0AF49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Punjab, Tamil Nadu, and Madhya Pradesh were among the strongest SIP states.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203217A-BCA5-4423-AE45-4E2386C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SIP inflow, category inflow, and transaction geography files.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18E920-13D1-426B-8405-EB83143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33576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D9F920-1E52-419C-931F-715ECAB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872FDDF-6C8A-4CDF-858C-F6580EAF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8AA9F53-2C5E-4484-962A-A2B428D5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PERFORMANCE METRICS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E5B5E0-3DE8-41A3-96B1-DBC1F60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The return leaderboard is equity-heavy, but the top Sharpe ratios belong to lower-volatility debt funds.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98645A5-FD77-497C-AEB3-133670B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That split matters: return strength and risk efficiency are not the same ranking problem.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70937AD-9895-473C-B09A-9E34D59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performance rankings">
            <a:extLst xmlns:a="http://schemas.openxmlformats.org/drawingml/2006/main">
              <a:ext uri="{FF2B5EF4-FFF2-40B4-BE49-F238E27FC236}">
                <a16:creationId xmlns:a16="http://schemas.microsoft.com/office/drawing/2014/main" id="{055BBF91-1153-4AB7-9A51-40D4BF9F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370e6c27c4375"/>
          <a:stretch xmlns:a="http://schemas.openxmlformats.org/drawingml/2006/main"/>
        </p:blipFill>
        <p:spPr>
          <a:xfrm xmlns:a="http://schemas.openxmlformats.org/drawingml/2006/main">
            <a:off x="1181100" y="18859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performance rankings">
            <a:extLst xmlns:a="http://schemas.openxmlformats.org/drawingml/2006/main">
              <a:ext uri="{FF2B5EF4-FFF2-40B4-BE49-F238E27FC236}">
                <a16:creationId xmlns:a16="http://schemas.microsoft.com/office/drawing/2014/main" id="{3B7F2B43-0AB6-4B12-A287-D99EF80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performance rankings</a:t>
            </a:r>
          </a:p>
        </p:txBody>
      </p:sp>
      <p:sp>
        <p:nvSpPr>
          <p:cNvPr id="10" name="bullet-panel-Readout">
            <a:extLst xmlns:a="http://schemas.openxmlformats.org/drawingml/2006/main">
              <a:ext uri="{FF2B5EF4-FFF2-40B4-BE49-F238E27FC236}">
                <a16:creationId xmlns:a16="http://schemas.microsoft.com/office/drawing/2014/main" id="{A4628EA6-96DA-47FA-8358-BF1250D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44CA1-8970-4717-BF3F-733DFBFD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1424B-4BE3-4F28-9D6D-38C5715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Top 3-year return: SBI Small Cap Fund - Regular Plan - Growth.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E4A74-3AD3-4D16-B305-27607E3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Top Sharpe ratio: ICICI Pru Liquid Fund - Regular - Growth.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0EC92-90A0-4683-B360-D0EE379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Alpha and drawdown help separate the active winners from the crowded middle.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97F1888-D8BC-45D6-8B1F-D800B1F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scheme performance CSV and derived scorecard outputs.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4CE5F63-1437-44AA-838C-C2F8CC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29117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D16351D-F1CA-4665-B6BE-91EF5BF6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1ADF846-DEA3-428C-882E-2C76AD9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0F24CA8-DC9B-4682-B464-B216DFD4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PERFORMANCE METRICS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C57421-EB80-4D71-808B-C07D282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Benchmark spreads remain meaningful, but correlation and drawdown explain most of the visible clustering.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F66EB5A-B2DE-42F0-9261-9C8A41A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The matrix view keeps the story honest: strong funds are often still strongly related to the same factor set.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B4630A1-21BF-4FBA-B8B3-3B2073C4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benchmark and correlation">
            <a:extLst xmlns:a="http://schemas.openxmlformats.org/drawingml/2006/main">
              <a:ext uri="{FF2B5EF4-FFF2-40B4-BE49-F238E27FC236}">
                <a16:creationId xmlns:a16="http://schemas.microsoft.com/office/drawing/2014/main" id="{6CF25D24-E6B1-4EE1-B396-609124D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35ad504ed4eca"/>
          <a:stretch xmlns:a="http://schemas.openxmlformats.org/drawingml/2006/main"/>
        </p:blipFill>
        <p:spPr>
          <a:xfrm xmlns:a="http://schemas.openxmlformats.org/drawingml/2006/main">
            <a:off x="1181100" y="18859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benchmark and correlation">
            <a:extLst xmlns:a="http://schemas.openxmlformats.org/drawingml/2006/main">
              <a:ext uri="{FF2B5EF4-FFF2-40B4-BE49-F238E27FC236}">
                <a16:creationId xmlns:a16="http://schemas.microsoft.com/office/drawing/2014/main" id="{904692B0-4724-4ACE-A52C-D1B483AE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benchmark and correlation</a:t>
            </a:r>
          </a:p>
        </p:txBody>
      </p:sp>
      <p:sp>
        <p:nvSpPr>
          <p:cNvPr id="10" name="bullet-panel-Readout">
            <a:extLst xmlns:a="http://schemas.openxmlformats.org/drawingml/2006/main">
              <a:ext uri="{FF2B5EF4-FFF2-40B4-BE49-F238E27FC236}">
                <a16:creationId xmlns:a16="http://schemas.microsoft.com/office/drawing/2014/main" id="{AC6576E1-5428-4201-86DA-C61C527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15641-03BE-4F7A-8CB9-B9BA27A3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5ED0-C816-46EF-860F-E4D9661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Active equity funds cluster tightly versus their benchmarks.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A0500-2502-4A00-9043-66C6CB0C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correlation matrix shows why a single broad-market view is not enough.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7E5D4-3EC4-4AE2-B29B-EE18809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Risk-adjusted performance is best judged with benchmark context attached.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32F752C-9896-4D7B-8055-CC2FA717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benchmark index series and fund return correlations.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CF76307-D56C-42D8-B105-45432448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27555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8548B9-57CC-46C6-BAE9-19648AA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903A017-072E-4C83-A674-6662DC8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F6D1F83-208A-4C11-ACA0-776334F3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PERFORMANCE METRICS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37408E-46F1-4BED-B7C4-FC218A35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AUM growth and indexed NAV trends show that scale, compounding, and category mix do not move in lockstep.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FE93564-9949-4A61-A1D1-310490B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The fund-house view is useful because it exposes growth, leadership, and concentration at once.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F081C7D-ADB7-4639-9729-05BA63E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aum and indexed nav">
            <a:extLst xmlns:a="http://schemas.openxmlformats.org/drawingml/2006/main">
              <a:ext uri="{FF2B5EF4-FFF2-40B4-BE49-F238E27FC236}">
                <a16:creationId xmlns:a16="http://schemas.microsoft.com/office/drawing/2014/main" id="{C9B5CD48-F9D8-4348-B6F0-B34984C3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7f0f6c4644807"/>
          <a:stretch xmlns:a="http://schemas.openxmlformats.org/drawingml/2006/main"/>
        </p:blipFill>
        <p:spPr>
          <a:xfrm xmlns:a="http://schemas.openxmlformats.org/drawingml/2006/main">
            <a:off x="1181100" y="18859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aption-aum and indexed nav">
            <a:extLst xmlns:a="http://schemas.openxmlformats.org/drawingml/2006/main">
              <a:ext uri="{FF2B5EF4-FFF2-40B4-BE49-F238E27FC236}">
                <a16:creationId xmlns:a16="http://schemas.microsoft.com/office/drawing/2014/main" id="{4B9BA08B-7542-47BC-9CAD-993B3B8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aum and indexed nav</a:t>
            </a:r>
          </a:p>
        </p:txBody>
      </p:sp>
      <p:sp>
        <p:nvSpPr>
          <p:cNvPr id="10" name="bullet-panel-Readout">
            <a:extLst xmlns:a="http://schemas.openxmlformats.org/drawingml/2006/main">
              <a:ext uri="{FF2B5EF4-FFF2-40B4-BE49-F238E27FC236}">
                <a16:creationId xmlns:a16="http://schemas.microsoft.com/office/drawing/2014/main" id="{4E1C85F8-1874-4B4A-AB30-14F15F3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23891-747B-4F1E-BE4D-545D7A5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A3343-B866-44FE-B75A-0D1AF8FD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Mirae Asset MF shows the strongest AUM growth across the window.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B8019-519E-4D70-A76B-7A6A8B7E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NAV behavior differs materially by fund-house and category.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A42E7-109F-4EC2-B4B6-BAF6E2A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growth picture needs both scale and time-series context.</a:t>
            </a:r>
          </a:p>
        </p:txBody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9A0C461-B0AD-4FFC-9E75-90597526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AUM trend and indexed NAV outputs.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CF6A48-837A-49A2-99BD-9411D52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56982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68CF87-9BC6-4D4A-A066-D4E54153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A804923-4F08-4A9D-A816-B4A67CC8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9D2D8F1-3DBF-4862-83B2-BF5B8855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DASHBOARD SCREENSHOTS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FC15D-BDA2-49DD-AAFB-DCF06AC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Investor dashboard view: participation mix, demographic spread, and geographic concentration.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4520F33-2537-4455-81C4-847158D8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This is the user-facing view that a stakeholder would read first.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D501B60-01B2-4E73-8329-377CBE24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dashboard investor">
            <a:extLst xmlns:a="http://schemas.openxmlformats.org/drawingml/2006/main">
              <a:ext uri="{FF2B5EF4-FFF2-40B4-BE49-F238E27FC236}">
                <a16:creationId xmlns:a16="http://schemas.microsoft.com/office/drawing/2014/main" id="{F83F8930-4FD9-4E85-B6FF-4BE1C37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1587b8c464037"/>
          <a:stretch xmlns:a="http://schemas.openxmlformats.org/drawingml/2006/main"/>
        </p:blipFill>
        <p:spPr>
          <a:xfrm xmlns:a="http://schemas.openxmlformats.org/drawingml/2006/main">
            <a:off x="2743200" y="188595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caption-dashboard investor">
            <a:extLst xmlns:a="http://schemas.openxmlformats.org/drawingml/2006/main">
              <a:ext uri="{FF2B5EF4-FFF2-40B4-BE49-F238E27FC236}">
                <a16:creationId xmlns:a16="http://schemas.microsoft.com/office/drawing/2014/main" id="{A925836F-2E47-467D-B6F3-ECA94FC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59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dashboard investor</a:t>
            </a:r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2676444-8AE1-4162-A31D-2A4C186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Composite dashboard screenshot assembled from project visuals.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4A618D-2312-4241-99AA-3DD35E25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57651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29E3264-CED8-430B-B69D-7BF5F33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03C8775-3A40-496D-97CA-36CFF18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3012F18-0183-4126-BD95-8AB25A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DASHBOARD SCREENSHOTS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3CFF2D-253A-4248-9B59-AC4F45F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Performance dashboard view: leaders, benchmark context, and scale trends.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0B5BBD6-567F-4AE4-B9A1-6B7ED9A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This second view anchors the investment story in risk-adjusted performance.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C03096F-A3DC-4001-A179-23C588BA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image-frame-dashboard performance">
            <a:extLst xmlns:a="http://schemas.openxmlformats.org/drawingml/2006/main">
              <a:ext uri="{FF2B5EF4-FFF2-40B4-BE49-F238E27FC236}">
                <a16:creationId xmlns:a16="http://schemas.microsoft.com/office/drawing/2014/main" id="{1615668C-0B1C-4C61-BB9E-12D6863D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94e2190804271"/>
          <a:stretch xmlns:a="http://schemas.openxmlformats.org/drawingml/2006/main"/>
        </p:blipFill>
        <p:spPr>
          <a:xfrm xmlns:a="http://schemas.openxmlformats.org/drawingml/2006/main">
            <a:off x="2743200" y="188595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caption-dashboard performance">
            <a:extLst xmlns:a="http://schemas.openxmlformats.org/drawingml/2006/main">
              <a:ext uri="{FF2B5EF4-FFF2-40B4-BE49-F238E27FC236}">
                <a16:creationId xmlns:a16="http://schemas.microsoft.com/office/drawing/2014/main" id="{EFEC4457-8FA8-4034-AF3F-43DA4820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59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dashboard performance</a:t>
            </a:r>
          </a:p>
        </p:txBody>
      </p:sp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ACD0C94-1197-4E3E-8689-01085FDB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Composite dashboard screenshot assembled from project visuals.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D36CD9-BC26-49F0-8A70-A4955437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67797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A9E261B-FC9B-441A-9FEE-FDFC507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1D019D4-491A-419C-AA64-76A99A8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FDEB977-BE81-4EFA-BC3E-E0342FEA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79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792B"/>
                </a:solidFill>
                <a:latin typeface="Aptos"/>
                <a:ea typeface="Aptos"/>
                <a:cs typeface="Aptos"/>
              </a:rPr>
              <a:t>KEY FINDINGS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BBECDC-EBFB-40FF-9990-324B22A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The capstone succeeds because the ETL, EDA, and performance layers now tell one coherent story.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8523FC1-3FEE-4E8F-AE4A-9843143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A clean warehouse, visible retail mix, and a disciplined scorecard are the real deliverables.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C90FEDE-354C-4F29-815C-23479D08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A"/>
          </a:solidFill>
          <a:ln xmlns:a="http://schemas.openxmlformats.org/drawingml/2006/main" w="0">
            <a:solidFill>
              <a:srgbClr val="C79A3A"/>
            </a:solidFill>
            <a:prstDash val="solid"/>
          </a:ln>
        </p:spPr>
      </p:sp>
      <p:sp>
        <p:nvSpPr>
          <p:cNvPr id="7" name="bullet-panel-What the project proves">
            <a:extLst xmlns:a="http://schemas.openxmlformats.org/drawingml/2006/main">
              <a:ext uri="{FF2B5EF4-FFF2-40B4-BE49-F238E27FC236}">
                <a16:creationId xmlns:a16="http://schemas.microsoft.com/office/drawing/2014/main" id="{55C57179-B2F2-4581-8812-A4D8AFDF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43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65637-B7CC-4D03-BE7D-69567D8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83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What the project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E1D8-DFCB-4103-9308-3232BA8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pipeline is reproducible and the warehouse is validated.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B8EFF-E991-452D-B616-29FF404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Retail demand is urban, young, and SIP-led.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68601-444F-4877-BD3C-3171CC6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Performance leadership splits between active equity and low-volatility debt funds.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C3E97-3227-4D2F-A817-FA52670E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Dashboard visuals can be refreshed from the curated outputs.</a:t>
            </a:r>
          </a:p>
        </p:txBody>
      </p:sp>
      <p:sp>
        <p:nvSpPr>
          <p:cNvPr id="13" name="bullet-panel-Thank you">
            <a:extLst xmlns:a="http://schemas.openxmlformats.org/drawingml/2006/main">
              <a:ext uri="{FF2B5EF4-FFF2-40B4-BE49-F238E27FC236}">
                <a16:creationId xmlns:a16="http://schemas.microsoft.com/office/drawing/2014/main" id="{413EEDBA-4942-44C0-9BF0-053BF90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4457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C8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66C0F-86ED-4196-A8C7-3AFB5C28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A3A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58E3D-AABD-4D63-88FD-8C710101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4114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repository is ready for the v1.0 tag.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64978-901C-42C0-9F67-7607D56A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114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The remaining optional step is BI hosting.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C0121-FDB4-4BFA-88FC-6B68673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4114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873"/>
                </a:solidFill>
                <a:latin typeface="Aptos"/>
                <a:ea typeface="Aptos"/>
                <a:cs typeface="Aptos"/>
              </a:rPr>
              <a:t>• Questions and iteration are welcome.</a:t>
            </a:r>
          </a:p>
        </p:txBody>
      </p:sp>
      <p:sp>
        <p:nvSpPr>
          <p:cNvPr id="1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0FB9666-94A5-44CD-AF9E-4C342AE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A878F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7A878F"/>
                </a:solidFill>
                <a:latin typeface="Aptos"/>
                <a:ea typeface="Aptos"/>
                <a:cs typeface="Aptos"/>
              </a:rPr>
              <a:t>Source: consolidated project summary.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FB40EC-0D19-443E-9045-FD8DA0E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8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8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9135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2026-06-21T16:26:01.2450000Z</dcterms:created>
  <dcterms:modified xsi:type="dcterms:W3CDTF">2026-06-21T16:26:01.2460000Z</dcterms:modified>
</coreProperties>
</file>